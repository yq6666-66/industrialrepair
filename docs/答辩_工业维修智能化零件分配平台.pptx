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20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5616000"/>
            <a:ext cx="12204000" cy="124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0000" y="1872000"/>
            <a:ext cx="10440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</a:rPr>
              <a:t>工业维修智能化零件分配平台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096000"/>
            <a:ext cx="1044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9EC5FF"/>
                </a:solidFill>
                <a:latin typeface="微软雅黑"/>
              </a:rPr>
              <a:t>拍照 · 识别 · 审阅 · 算料 一体化智能维修系统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5868000"/>
            <a:ext cx="104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微软雅黑"/>
              </a:rPr>
              <a:t>《软件工程综合实训》答辩　｜　软件工程 23 级　｜　姓名：____　学号：____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业务闭环：识别为候选，人工来确认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6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1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报修拍照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32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4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2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识别 Top3 候选留痕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40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2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3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工程师材料审阅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48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0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4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整机BOM×冗余算料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6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5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领料出库(事务)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64000" y="1152000"/>
            <a:ext cx="1692000" cy="864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36000" y="1296000"/>
            <a:ext cx="1548000" cy="6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2A6CCA"/>
                </a:solidFill>
                <a:latin typeface="微软雅黑"/>
              </a:rPr>
              <a:t>6</a:t>
            </a:r>
          </a:p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202938"/>
                </a:solidFill>
                <a:latin typeface="微软雅黑"/>
              </a:rPr>
              <a:t>完工·大屏统计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000" y="2779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3200" y="2736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照片判不准内部损坏：识别只给候选（匹配分数+可解释理由），&lt;60 分标注需人工核对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000" y="3319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200" y="3276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材料审阅：BOM 内确认仅 ★ 标记重点（数量按 BOM）；BOM 外须人工用量+理由，按 CEILING(用量×冗余) 追加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859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200" y="3816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存在未出库领料单禁改审阅；审阅快照随单固化——历史清单始终可解释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000" y="4896000"/>
            <a:ext cx="111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未审阅的工单一律拒绝算料（存储过程闸门）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技术栈与三层架构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558000"/>
            <a:ext cx="1080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5DDFF"/>
                </a:solidFill>
                <a:latin typeface="微软雅黑"/>
              </a:rPr>
              <a:t>.NET 8 WinForm + SunnyUI + ADO.NET + SQL Server LocalDB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188000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3999" y="1385999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UI 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6000" y="1188000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20000" y="1314000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WinForm + SunnyUI 3.9.8（UIForm/UIDataGridView/UIBarChart/UILineChart）· 维护计划中心四Tab · 异步照片准备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231999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999" y="2429999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BLL 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6000" y="2231999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0000" y="2357999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认证(bcrypt/MFA) 工单 材料审阅 算料 识别 串口 MQTT · PM调度(Quartz) EOQ优化 停机OEE 供应商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3276000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999" y="3474000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DAL 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6000" y="3276000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20000" y="3401999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ADO.NET DbHelper：SqlParameter 全参数化 · RunInTransaction · ScriptRunner 版本化迁移(Schema v5)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4320000"/>
            <a:ext cx="1872000" cy="792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3999" y="4518000"/>
            <a:ext cx="172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</a:rPr>
              <a:t>Models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6000" y="4320000"/>
            <a:ext cx="9396000" cy="792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20000" y="4446000"/>
            <a:ext cx="9144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实体与代码（MaterialReviewMode / InventoryRecommendation / Result 模式）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5400000"/>
            <a:ext cx="111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7A8A"/>
                </a:solidFill>
                <a:latin typeface="微软雅黑"/>
              </a:rPr>
              <a:t>权限双层：界面按钮显隐 + 服务层会话/权限/获派二次校验（越权调用直接拒绝）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数据库：21 表 · 14 过程 · 3 触发器 · 8 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558000"/>
            <a:ext cx="1080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5DDFF"/>
                </a:solidFill>
                <a:latin typeface="微软雅黑"/>
              </a:rPr>
              <a:t>版本化迁移（Schema v5）+ 写入约束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67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3200" y="1224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usp_ReviewMaterials：审阅与留痕同事务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645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3200" y="1602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usp_GeneratePicking：审阅闸门/快照/★标记/applock 单号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023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3200" y="1980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usp_IssuePicking：行锁出库，不足回滚报缺口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2401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3200" y="2358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触发器只记真实新增与状态变化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2779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3200" y="2736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CHECK 约束：库存/下限/单价非负、用量为正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3157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3200" y="3114000"/>
            <a:ext cx="5400000" cy="37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一工单至多一张未出库单：唯一过滤索引兜底并发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36000" y="1224000"/>
            <a:ext cx="5472000" cy="3744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2000" y="1368000"/>
            <a:ext cx="50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6CCA"/>
                </a:solidFill>
                <a:latin typeface="微软雅黑"/>
              </a:rPr>
              <a:t>schema_version 版本化迁移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1800000"/>
            <a:ext cx="5040000" cy="28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基线 v1 → 材料审阅 v2 → 性能索引 v3 → 新功能 v4 → PM 关联 v5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任一批次失败整体回滚，版本号不落库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重启自动重试；结构校验通过才提交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存储过程/触发器/视图按脚本 SHA-256 增量刷新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验收：空库初始化 / 旧库增量升级（v4→v5 实测）/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202938"/>
                </a:solidFill>
                <a:latin typeface="微软雅黑"/>
              </a:rPr>
              <a:t>重复启动幂等 / 坏批次整体回滚 全部通过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安全实现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口令安全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bcrypt cost=11 随机盐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失败5次锁10分钟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注册/登录/找回全链路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1999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000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登录防护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6000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图形验证码(抗旋转噪线)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MFA 邮箱二次验证(演示通道)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30 分钟滑动会话超时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2000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5999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注入防护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5999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SqlParameter 全参数化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存储过程内部同样参数化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无字符串拼接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2000" y="1296000"/>
            <a:ext cx="2736000" cy="3096000"/>
          </a:xfrm>
          <a:prstGeom prst="roundRect">
            <a:avLst/>
          </a:prstGeom>
          <a:solidFill>
            <a:srgbClr val="F2F6FA"/>
          </a:solidFill>
          <a:ln>
            <a:solidFill>
              <a:srgbClr val="2A6C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6000" y="1475999"/>
            <a:ext cx="2448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A6CCA"/>
                </a:solidFill>
                <a:latin typeface="微软雅黑"/>
              </a:rPr>
              <a:t>权限与审计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6000" y="2088000"/>
            <a:ext cx="2448000" cy="21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RBAC 四角色 12 权限点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服务层二次校验+获派限制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202938"/>
                </a:solidFill>
                <a:latin typeface="微软雅黑"/>
              </a:rPr>
              <a:t>登录/操作/审阅全留痕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测试与评测：出真数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000" y="558000"/>
            <a:ext cx="10800000" cy="2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5DDFF"/>
                </a:solidFill>
                <a:latin typeface="微软雅黑"/>
              </a:rPr>
              <a:t>独立测试库强制隔离，不污染业务库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单元测试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138/138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1999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端到端冒烟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82/82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2000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扫码回环评测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6/6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2000" y="1224000"/>
            <a:ext cx="2736000" cy="129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0000" y="1332000"/>
            <a:ext cx="252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5DDFF"/>
                </a:solidFill>
                <a:latin typeface="微软雅黑"/>
              </a:rPr>
              <a:t>SQL 冒烟/升级演练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000" y="1655999"/>
            <a:ext cx="2520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SMOKE OK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000" y="2923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200" y="2880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冒烟覆盖：越权拒绝 / 触发器审计 / 审阅九场景 / C#↔存储过程算料对拍 / 并发出库恰好一次 / 快照不变性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2000" y="3463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200" y="3420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识别评测工具 RecognizeEval：visual 模式禁照片内条码作答，输出 Top1/Top3/混淆矩阵/run.json（特征库哈希+降级计数）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2000" y="4003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3200" y="3960000"/>
            <a:ext cx="1116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02938"/>
                </a:solidFill>
                <a:latin typeface="微软雅黑"/>
              </a:rPr>
              <a:t>诚实数字：合成图外观 Top1 0/3 —— 特征库匹配的真实水平；真实效果待课程模型+真实图集，不用模拟冒充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开源集成与合规（17 个直接依赖）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13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SunnyUI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51999" y="13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界面/图表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3999" y="13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A6CCA"/>
                </a:solidFill>
                <a:latin typeface="微软雅黑"/>
              </a:rPr>
              <a:t>GPL-3.0-only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6000" y="12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0000" y="13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OpenCvSharp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76000" y="13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视觉特征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88000" y="13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Apache-2.0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21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00" y="22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Microsoft.ML.OnnxRuntime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1999" y="22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课程模型后端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3999" y="22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6000" y="21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000" y="22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ZXing.Net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76000" y="22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条码解码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88000" y="22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Apache-2.0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0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00" y="31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ClosedXML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1999" y="31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Excel 报表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3999" y="31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000" y="30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0000" y="31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MQTTnet 4.3.7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76000" y="31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内嵌 Broker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88000" y="31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39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00" y="40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Quartz.NET 3.13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51999" y="40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定时任务/PM调度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3999" y="40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Apache-2.0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000" y="3924000"/>
            <a:ext cx="5472000" cy="7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0" y="4024800"/>
            <a:ext cx="234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202938"/>
                </a:solidFill>
                <a:latin typeface="微软雅黑"/>
              </a:rPr>
              <a:t>ScottPlot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76000" y="4046400"/>
            <a:ext cx="1655999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EOQ 交互图表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88000" y="4024800"/>
            <a:ext cx="1368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A8A"/>
                </a:solidFill>
                <a:latin typeface="微软雅黑"/>
              </a:rPr>
              <a:t>MIT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2000" y="5004000"/>
            <a:ext cx="1116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E7A8A"/>
                </a:solidFill>
                <a:latin typeface="微软雅黑"/>
              </a:rPr>
              <a:t>另含 MailKit/QuestPDF/CsvHelper/Serilog/Polly/FluentValidation/FuzzySharp/Bogus/QRCoder/BCrypt.Net-Next；许可以官方 NuGet 元数据为准，SunnyUI 为 GPL-3.0-only（课设可用，商用需注意传染性）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维护智能化与集成亮点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339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3200" y="1296000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预防性维护 PM：Time/Meter 双模式调度，Quartz 每 30 分钟检查到期自动建工单，工单↔调度硬外键关联（Schema v5）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00" y="2023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3200" y="1980000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EOQ 库存优化：经济批量/再订购点/安全库存，首选供应商实际交期参与计算（无关联回退 14 天），ScottPlot 图表导出 PNG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000" y="2707200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3200" y="2664000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停机追踪 OEE：固定七类停机原因下拉，30 天可用率（Availability）计算与 Excel 导出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3391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200" y="3347999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MQTT 遥测：内嵌 Broker(127.0.0.1:18835)，温度/振动越限自动建 [IoT自动报修] 工单（10 分钟冷却，冒烟确定性断言）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4075199"/>
            <a:ext cx="57600" cy="1512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3200" y="4031999"/>
            <a:ext cx="11160000" cy="68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02938"/>
                </a:solidFill>
                <a:latin typeface="微软雅黑"/>
              </a:rPr>
              <a:t>二维码闭环：QRCoder 生成 PART:编码 标签 → ZXing 解码直达配件（回环 6/6）；CSV/Excel 导出对接外部大屏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204000" cy="756000"/>
          </a:xfrm>
          <a:prstGeom prst="roundRect">
            <a:avLst/>
          </a:prstGeom>
          <a:solidFill>
            <a:srgbClr val="2A6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16000" y="198000"/>
            <a:ext cx="43200" cy="36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000" y="125999"/>
            <a:ext cx="864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微软雅黑"/>
              </a:rPr>
              <a:t>如实边界与展望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000" y="1224000"/>
            <a:ext cx="5472000" cy="34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8000" y="1368000"/>
            <a:ext cx="50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6CCA"/>
                </a:solidFill>
                <a:latin typeface="微软雅黑"/>
              </a:rPr>
              <a:t>当前如实标注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1835999"/>
            <a:ext cx="5040000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识别分数=匹配分，非概率（合成图 Top1 0/3 已入档）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MFA 邮箱为演示通道（验证码界面直显）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真实扫码枪 / 山海鲸 / 课程模型：待实物验证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6000" y="1224000"/>
            <a:ext cx="5472000" cy="3456000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2000" y="1368000"/>
            <a:ext cx="5040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A6CCA"/>
                </a:solidFill>
                <a:latin typeface="微软雅黑"/>
              </a:rPr>
              <a:t>展望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2000" y="1835999"/>
            <a:ext cx="5040000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课程模型经 IImageRecognizer 同接口接入，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以独立真实图集评测（开发集定阈值、验证集出指标）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移动端(MAUI)与消息推送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202938"/>
                </a:solidFill>
                <a:latin typeface="微软雅黑"/>
              </a:rPr>
              <a:t>厂区 Broker 对接（改连接即可）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9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00000" y="2592000"/>
            <a:ext cx="1044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微软雅黑"/>
              </a:rPr>
              <a:t>谢谢，请老师提问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0000" y="3671999"/>
            <a:ext cx="1044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EC5FF"/>
                </a:solidFill>
                <a:latin typeface="微软雅黑"/>
              </a:rPr>
              <a:t>演示账号：admin / warehouse / engineer / reporter（密码 123456）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