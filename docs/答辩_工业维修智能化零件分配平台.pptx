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20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5616000"/>
            <a:ext cx="12204000" cy="1242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872000"/>
            <a:ext cx="104400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/>
              </a:rPr>
              <a:t>工业维修智能化零件分配平台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096000"/>
            <a:ext cx="1044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EC5FF"/>
                </a:solidFill>
                <a:latin typeface="微软雅黑"/>
              </a:rPr>
              <a:t>拍照 · 识别 · 审阅 · 算料 一体化智能维修系统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5868000"/>
            <a:ext cx="1044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微软雅黑"/>
              </a:rPr>
              <a:t>《软件工程综合实训》答辩　｜　软件工程 23 级　｜　姓名：____　学号：____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业务闭环：识别为候选，人工来确认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6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1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报修拍照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32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4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2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识别 Top3 候选留痕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40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12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3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工程师材料审阅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48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0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4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整机BOM×冗余算料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6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5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领料出库(事务)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64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36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6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完工·大屏统计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2779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3200" y="2736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照片判不准内部损坏：识别只给候选（匹配分数+可解释理由），&lt;60 分标注需人工核对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3319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200" y="3276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材料审阅：BOM 内确认仅 ★ 标记重点（数量按 BOM）；BOM 外须人工用量+理由，按 CEILING(用量×冗余) 追加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859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200" y="3816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存在未出库领料单禁改审阅；审阅快照随单固化——历史清单始终可解释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4896000"/>
            <a:ext cx="111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7A8A"/>
                </a:solidFill>
                <a:latin typeface="微软雅黑"/>
              </a:rPr>
              <a:t>未审阅的工单一律拒绝算料（存储过程闸门）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技术栈与三层架构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000" y="558000"/>
            <a:ext cx="10800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5DDFF"/>
                </a:solidFill>
                <a:latin typeface="微软雅黑"/>
              </a:rPr>
              <a:t>.NET 8 WinForm + SunnyUI + ADO.NET + SQL Server LocalDB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188000"/>
            <a:ext cx="1872000" cy="792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3999" y="1385999"/>
            <a:ext cx="172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</a:rPr>
              <a:t>UI 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6000" y="1188000"/>
            <a:ext cx="9396000" cy="792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20000" y="1314000"/>
            <a:ext cx="91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WinForm + SunnyUI 3.9.8（UIForm/UIDataGridView/UIBarChart/UILineChart）· 异步照片准备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231999"/>
            <a:ext cx="1872000" cy="792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999" y="2429999"/>
            <a:ext cx="172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</a:rPr>
              <a:t>BLL 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6000" y="2231999"/>
            <a:ext cx="9396000" cy="792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0000" y="2357999"/>
            <a:ext cx="91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认证(bcrypt/MFA) 工单 材料审阅 算料(BomCalculator 纯函数) 识别(IImageRecognizer) 串口(IScannerInput) MQTT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3276000"/>
            <a:ext cx="1872000" cy="792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999" y="3474000"/>
            <a:ext cx="172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</a:rPr>
              <a:t>DAL 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6000" y="3276000"/>
            <a:ext cx="9396000" cy="792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20000" y="3401999"/>
            <a:ext cx="91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ADO.NET DbHelper：SqlParameter 全参数化 · RunInTransaction · ScriptRunner 版本化迁移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4320000"/>
            <a:ext cx="1872000" cy="792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4518000"/>
            <a:ext cx="172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</a:rPr>
              <a:t>Models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6000" y="4320000"/>
            <a:ext cx="9396000" cy="792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20000" y="4446000"/>
            <a:ext cx="91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实体与代码（MaterialReviewMode / RecognizeSource / Result 模式）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5400000"/>
            <a:ext cx="111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7A8A"/>
                </a:solidFill>
                <a:latin typeface="微软雅黑"/>
              </a:rPr>
              <a:t>权限双层：界面按钮显隐 + 服务层会话/权限/获派二次校验（越权调用直接拒绝）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数据库：17 表 · 11 过程 · 3 触发器 · 4 视图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000" y="558000"/>
            <a:ext cx="10800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5DDFF"/>
                </a:solidFill>
                <a:latin typeface="微软雅黑"/>
              </a:rPr>
              <a:t>版本化迁移 + 写入约束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267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3200" y="1224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usp_ReviewMaterials：审阅与留痕同事务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1645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3200" y="1602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usp_GeneratePicking：审阅闸门/快照/★标记/applock 单号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023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3200" y="1980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usp_IssuePicking：行锁出库，不足回滚报缺口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2401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200" y="2358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触发器只记真实新增与状态变化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2779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3200" y="2736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CHECK 约束：库存/下限/单价非负、用量为正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3157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3200" y="3114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一工单至多一张未出库单：唯一过滤索引兜底并发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000" y="1224000"/>
            <a:ext cx="5472000" cy="3744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2000" y="1368000"/>
            <a:ext cx="504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6CCA"/>
                </a:solidFill>
                <a:latin typeface="微软雅黑"/>
              </a:rPr>
              <a:t>schema_version 版本化迁移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2000" y="1800000"/>
            <a:ext cx="5040000" cy="28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基线 v1 → 材料审阅 v2 → …（每版本单一事务）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任一批次失败整体回滚，版本号不落库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重启自动重试；结构校验通过才提交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存储过程/触发器/视图按脚本 SHA-256 增量刷新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验收：空库初始化 / 旧库升级（备份恢复演练，13 工单保留）/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重复启动幂等 / 坏批次整体回滚 全部通过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安全实现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296000"/>
            <a:ext cx="2736000" cy="3096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475999"/>
            <a:ext cx="244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6CCA"/>
                </a:solidFill>
                <a:latin typeface="微软雅黑"/>
              </a:rPr>
              <a:t>口令安全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2088000"/>
            <a:ext cx="2448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bcrypt cost=11 随机盐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失败5次锁10分钟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注册/登录/找回全链路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1999" y="1296000"/>
            <a:ext cx="2736000" cy="3096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6000" y="1475999"/>
            <a:ext cx="244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6CCA"/>
                </a:solidFill>
                <a:latin typeface="微软雅黑"/>
              </a:rPr>
              <a:t>登录防护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6000" y="2088000"/>
            <a:ext cx="2448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图形验证码(抗旋转噪线)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MFA 邮箱二次验证(演示通道)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30 分钟滑动会话超时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2000" y="1296000"/>
            <a:ext cx="2736000" cy="3096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5999" y="1475999"/>
            <a:ext cx="244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6CCA"/>
                </a:solidFill>
                <a:latin typeface="微软雅黑"/>
              </a:rPr>
              <a:t>注入防护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5999" y="2088000"/>
            <a:ext cx="2448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SqlParameter 全参数化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存储过程内部同样参数化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无字符串拼接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2000" y="1296000"/>
            <a:ext cx="2736000" cy="3096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16000" y="1475999"/>
            <a:ext cx="244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6CCA"/>
                </a:solidFill>
                <a:latin typeface="微软雅黑"/>
              </a:rPr>
              <a:t>权限与审计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6000" y="2088000"/>
            <a:ext cx="2448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RBAC 四角色 12 权限点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服务层二次校验+获派限制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登录/操作/审阅全留痕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测试与评测：出真数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000" y="558000"/>
            <a:ext cx="10800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5DDFF"/>
                </a:solidFill>
                <a:latin typeface="微软雅黑"/>
              </a:rPr>
              <a:t>独立测试库强制隔离，不污染业务库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224000"/>
            <a:ext cx="2736000" cy="129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332000"/>
            <a:ext cx="25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5DDFF"/>
                </a:solidFill>
                <a:latin typeface="微软雅黑"/>
              </a:rPr>
              <a:t>单元测试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655999"/>
            <a:ext cx="25200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32/32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1999" y="1224000"/>
            <a:ext cx="2736000" cy="129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0000" y="1332000"/>
            <a:ext cx="25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5DDFF"/>
                </a:solidFill>
                <a:latin typeface="微软雅黑"/>
              </a:rPr>
              <a:t>端到端冒烟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0" y="1655999"/>
            <a:ext cx="25200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58/58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2000" y="1224000"/>
            <a:ext cx="2736000" cy="129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0" y="1332000"/>
            <a:ext cx="25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5DDFF"/>
                </a:solidFill>
                <a:latin typeface="微软雅黑"/>
              </a:rPr>
              <a:t>扫码回环评测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1655999"/>
            <a:ext cx="25200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2000" y="1224000"/>
            <a:ext cx="2736000" cy="129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0000" y="1332000"/>
            <a:ext cx="25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5DDFF"/>
                </a:solidFill>
                <a:latin typeface="微软雅黑"/>
              </a:rPr>
              <a:t>SQL 冒烟/升级演练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000" y="1655999"/>
            <a:ext cx="25200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SMOKE 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2923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200" y="2880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冒烟覆盖：越权拒绝 / 触发器审计 / 审阅九场景 / C#↔存储过程算料对拍 / 并发出库恰好一次 / 快照不变性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463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200" y="3420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识别评测工具 RecognizeEval：visual 模式禁照片内条码作答，输出 Top1/Top3/混淆矩阵/run.json（特征库哈希+降级计数）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4003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3200" y="3960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诚实数字：合成图外观 Top1 0/3 —— 特征库匹配的真实水平；真实效果待课程模型+真实图集，不用模拟冒充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开源集成与合规（8 个直接依赖）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2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3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SunnyUI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1999" y="13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界面/图表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3999" y="13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6CCA"/>
                </a:solidFill>
                <a:latin typeface="微软雅黑"/>
              </a:rPr>
              <a:t>GPL-3.0-only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6000" y="12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0" y="13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OpenCvSharp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6000" y="13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视觉特征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88000" y="13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Apache-2.0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21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22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QRCoder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1999" y="22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二维码标签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3999" y="22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MIT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6000" y="21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000" y="22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ZXing.Net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76000" y="22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条码解码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88000" y="22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Apache-2.0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0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00" y="31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ClosedXML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51999" y="31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Excel 报表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3999" y="31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MIT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6000" y="30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000" y="31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MQTTnet 4.3.7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76000" y="31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内嵌 Broker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88000" y="31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MIT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39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00" y="40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BCrypt.Net-Next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51999" y="40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口令哈希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3999" y="40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MIT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6000" y="39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0000" y="40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xunit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6000" y="40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单元测试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8000" y="40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Apache-2.0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000" y="5004000"/>
            <a:ext cx="111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7A8A"/>
                </a:solidFill>
                <a:latin typeface="微软雅黑"/>
              </a:rPr>
              <a:t>许可以官方 NuGet 元数据为准；SunnyUI 为 GPL-3.0-only（课设可用，商用发布需注意传染性）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物联网与集成亮点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339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3200" y="1296000"/>
            <a:ext cx="11160000" cy="68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串口扫码：IScannerInput 统一接口——真实串口/模拟器/图片扫码/手动录入同一「编码→配件」流程，帧协议 PART:编码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023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3200" y="1980000"/>
            <a:ext cx="11160000" cy="68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MQTT 遥测：MQTTnet 内嵌 Broker(127.0.0.1:18835)，factory/{id}/telemetry 温度/振动上屏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707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200" y="2664000"/>
            <a:ext cx="11160000" cy="68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越限自动报修：温度&gt;75℃ 或振动&gt;8.0 自动建 [IoT自动报修] 工单，10 分钟冷却防重复（冒烟确定性断言）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391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3200" y="3347999"/>
            <a:ext cx="11160000" cy="68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二维码闭环：QRCoder 生成 PART:编码 标签 → 报修照片/图片扫码经 ZXing 直达配件（扫码回环 6/6）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4075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3200" y="4031999"/>
            <a:ext cx="11160000" cy="68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大屏与报表：UIBarChart/UILineChart + 低库存预警表；CSV(UTF-8 BOM) 导出对接山海鲸类外部大屏；Excel 报表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如实边界与展望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224000"/>
            <a:ext cx="5472000" cy="34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8000" y="1368000"/>
            <a:ext cx="504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6CCA"/>
                </a:solidFill>
                <a:latin typeface="微软雅黑"/>
              </a:rPr>
              <a:t>当前如实标注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1835999"/>
            <a:ext cx="5040000" cy="2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识别分数=匹配分，非概率（合成图 Top1 0/3 已入档）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MFA 邮箱为演示通道（验证码界面直显）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真实扫码枪 / 山海鲸 / 课程模型：待实物验证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6000" y="1224000"/>
            <a:ext cx="5472000" cy="34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2000" y="1368000"/>
            <a:ext cx="504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6CCA"/>
                </a:solidFill>
                <a:latin typeface="微软雅黑"/>
              </a:rPr>
              <a:t>展望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2000" y="1835999"/>
            <a:ext cx="5040000" cy="2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课程模型经 IImageRecognizer 同接口接入，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以独立真实图集评测（开发集定阈值、验证集出指标）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移动端(MAUI)与消息推送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厂区 Broker 对接（改连接即可）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592000"/>
            <a:ext cx="1044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</a:rPr>
              <a:t>谢谢，请老师提问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3671999"/>
            <a:ext cx="1044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9EC5FF"/>
                </a:solidFill>
                <a:latin typeface="微软雅黑"/>
              </a:rPr>
              <a:t>演示账号：admin / warehouse / engineer / reporter（密码 123456）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