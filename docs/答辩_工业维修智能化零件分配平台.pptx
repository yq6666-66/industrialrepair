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20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9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5616000"/>
            <a:ext cx="12204000" cy="1242000"/>
          </a:xfrm>
          <a:prstGeom prst="roundRect">
            <a:avLst/>
          </a:prstGeom>
          <a:solidFill>
            <a:srgbClr val="187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872000"/>
            <a:ext cx="10440000" cy="10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微软雅黑"/>
              </a:rPr>
              <a:t>工业维修智能化零件分配平台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3096000"/>
            <a:ext cx="104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9EC5FF"/>
                </a:solidFill>
                <a:latin typeface="微软雅黑"/>
              </a:rPr>
              <a:t>拍照 · 识别 · 审阅 · 算料 一体化智能维修系统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5868000"/>
            <a:ext cx="1044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微软雅黑"/>
              </a:rPr>
              <a:t>《软件工程综合实训》答辩　｜　软件工程 23 级　｜　姓名：____　学号：____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204000" cy="756000"/>
          </a:xfrm>
          <a:prstGeom prst="roundRect">
            <a:avLst/>
          </a:prstGeom>
          <a:solidFill>
            <a:srgbClr val="187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16000" y="198000"/>
            <a:ext cx="43200" cy="36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2000" y="125999"/>
            <a:ext cx="864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业务闭环：识别为候选，人工来确认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000" y="1152000"/>
            <a:ext cx="1692000" cy="864000"/>
          </a:xfrm>
          <a:prstGeom prst="roundRect">
            <a:avLst/>
          </a:prstGeom>
          <a:solidFill>
            <a:srgbClr val="F2F6FA"/>
          </a:solidFill>
          <a:ln>
            <a:solidFill>
              <a:srgbClr val="187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6000" y="1296000"/>
            <a:ext cx="1548000" cy="64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1870F0"/>
                </a:solidFill>
                <a:latin typeface="微软雅黑"/>
              </a:rPr>
              <a:t>1</a:t>
            </a:r>
          </a:p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202938"/>
                </a:solidFill>
                <a:latin typeface="微软雅黑"/>
              </a:rPr>
              <a:t>报修拍照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32000" y="1152000"/>
            <a:ext cx="1692000" cy="864000"/>
          </a:xfrm>
          <a:prstGeom prst="roundRect">
            <a:avLst/>
          </a:prstGeom>
          <a:solidFill>
            <a:srgbClr val="F2F6FA"/>
          </a:solidFill>
          <a:ln>
            <a:solidFill>
              <a:srgbClr val="187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04000" y="1296000"/>
            <a:ext cx="1548000" cy="64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1870F0"/>
                </a:solidFill>
                <a:latin typeface="微软雅黑"/>
              </a:rPr>
              <a:t>2</a:t>
            </a:r>
          </a:p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202938"/>
                </a:solidFill>
                <a:latin typeface="微软雅黑"/>
              </a:rPr>
              <a:t>识别 Top3 候选留痕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40000" y="1152000"/>
            <a:ext cx="1692000" cy="864000"/>
          </a:xfrm>
          <a:prstGeom prst="roundRect">
            <a:avLst/>
          </a:prstGeom>
          <a:solidFill>
            <a:srgbClr val="F2F6FA"/>
          </a:solidFill>
          <a:ln>
            <a:solidFill>
              <a:srgbClr val="187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12000" y="1296000"/>
            <a:ext cx="1548000" cy="64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1870F0"/>
                </a:solidFill>
                <a:latin typeface="微软雅黑"/>
              </a:rPr>
              <a:t>3</a:t>
            </a:r>
          </a:p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202938"/>
                </a:solidFill>
                <a:latin typeface="微软雅黑"/>
              </a:rPr>
              <a:t>工程师材料审阅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48000" y="1152000"/>
            <a:ext cx="1692000" cy="864000"/>
          </a:xfrm>
          <a:prstGeom prst="roundRect">
            <a:avLst/>
          </a:prstGeom>
          <a:solidFill>
            <a:srgbClr val="F2F6FA"/>
          </a:solidFill>
          <a:ln>
            <a:solidFill>
              <a:srgbClr val="187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0000" y="1296000"/>
            <a:ext cx="1548000" cy="64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1870F0"/>
                </a:solidFill>
                <a:latin typeface="微软雅黑"/>
              </a:rPr>
              <a:t>4</a:t>
            </a:r>
          </a:p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202938"/>
                </a:solidFill>
                <a:latin typeface="微软雅黑"/>
              </a:rPr>
              <a:t>整机BOM×冗余算料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6000" y="1152000"/>
            <a:ext cx="1692000" cy="864000"/>
          </a:xfrm>
          <a:prstGeom prst="roundRect">
            <a:avLst/>
          </a:prstGeom>
          <a:solidFill>
            <a:srgbClr val="F2F6FA"/>
          </a:solidFill>
          <a:ln>
            <a:solidFill>
              <a:srgbClr val="187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28000" y="1296000"/>
            <a:ext cx="1548000" cy="64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1870F0"/>
                </a:solidFill>
                <a:latin typeface="微软雅黑"/>
              </a:rPr>
              <a:t>5</a:t>
            </a:r>
          </a:p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202938"/>
                </a:solidFill>
                <a:latin typeface="微软雅黑"/>
              </a:rPr>
              <a:t>领料出库(事务)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64000" y="1152000"/>
            <a:ext cx="1692000" cy="864000"/>
          </a:xfrm>
          <a:prstGeom prst="roundRect">
            <a:avLst/>
          </a:prstGeom>
          <a:solidFill>
            <a:srgbClr val="F2F6FA"/>
          </a:solidFill>
          <a:ln>
            <a:solidFill>
              <a:srgbClr val="187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36000" y="1296000"/>
            <a:ext cx="1548000" cy="64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1870F0"/>
                </a:solidFill>
                <a:latin typeface="微软雅黑"/>
              </a:rPr>
              <a:t>6</a:t>
            </a:r>
          </a:p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202938"/>
                </a:solidFill>
                <a:latin typeface="微软雅黑"/>
              </a:rPr>
              <a:t>完工·大屏统计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000" y="2779200"/>
            <a:ext cx="57600" cy="151200"/>
          </a:xfrm>
          <a:prstGeom prst="roundRect">
            <a:avLst/>
          </a:prstGeom>
          <a:solidFill>
            <a:srgbClr val="187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3200" y="2736000"/>
            <a:ext cx="1116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202938"/>
                </a:solidFill>
                <a:latin typeface="微软雅黑"/>
              </a:rPr>
              <a:t>照片判不准内部损坏：识别只给候选（匹配分数+可解释理由），&lt;60 分标注需人工核对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000" y="3319199"/>
            <a:ext cx="57600" cy="151200"/>
          </a:xfrm>
          <a:prstGeom prst="roundRect">
            <a:avLst/>
          </a:prstGeom>
          <a:solidFill>
            <a:srgbClr val="187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3200" y="3276000"/>
            <a:ext cx="1116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202938"/>
                </a:solidFill>
                <a:latin typeface="微软雅黑"/>
              </a:rPr>
              <a:t>材料审阅：BOM 内确认仅 ★ 标记重点（数量按 BOM）；BOM 外须人工用量+理由，按 CEILING(用量×冗余) 追加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000" y="3859199"/>
            <a:ext cx="57600" cy="151200"/>
          </a:xfrm>
          <a:prstGeom prst="roundRect">
            <a:avLst/>
          </a:prstGeom>
          <a:solidFill>
            <a:srgbClr val="187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3200" y="3816000"/>
            <a:ext cx="1116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202938"/>
                </a:solidFill>
                <a:latin typeface="微软雅黑"/>
              </a:rPr>
              <a:t>存在未出库领料单禁改审阅；审阅快照随单固化——历史清单始终可解释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000" y="4896000"/>
            <a:ext cx="1116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E7A8A"/>
                </a:solidFill>
                <a:latin typeface="微软雅黑"/>
              </a:rPr>
              <a:t>未审阅的工单一律拒绝算料（存储过程闸门）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204000" cy="756000"/>
          </a:xfrm>
          <a:prstGeom prst="roundRect">
            <a:avLst/>
          </a:prstGeom>
          <a:solidFill>
            <a:srgbClr val="187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16000" y="198000"/>
            <a:ext cx="43200" cy="36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2000" y="125999"/>
            <a:ext cx="864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技术栈与三层架构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000" y="558000"/>
            <a:ext cx="1080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5DDFF"/>
                </a:solidFill>
                <a:latin typeface="微软雅黑"/>
              </a:rPr>
              <a:t>.NET 8 WinForm + SunnyUI + ADO.NET + SQL Server LocalDB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1188000"/>
            <a:ext cx="1872000" cy="792000"/>
          </a:xfrm>
          <a:prstGeom prst="roundRect">
            <a:avLst/>
          </a:prstGeom>
          <a:solidFill>
            <a:srgbClr val="187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3999" y="1385999"/>
            <a:ext cx="1728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微软雅黑"/>
              </a:rPr>
              <a:t>UI 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6000" y="1188000"/>
            <a:ext cx="9396000" cy="79200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20000" y="1314000"/>
            <a:ext cx="9144000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02938"/>
                </a:solidFill>
                <a:latin typeface="微软雅黑"/>
              </a:rPr>
              <a:t>WinForm + SunnyUI 3.9.8（UIForm/UIDataGridView/UIBarChart/UILineChart）· 维护计划中心四Tab · 异步照片准备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000" y="2231999"/>
            <a:ext cx="1872000" cy="792000"/>
          </a:xfrm>
          <a:prstGeom prst="roundRect">
            <a:avLst/>
          </a:prstGeom>
          <a:solidFill>
            <a:srgbClr val="187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3999" y="2429999"/>
            <a:ext cx="1728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微软雅黑"/>
              </a:rPr>
              <a:t>BLL 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6000" y="2231999"/>
            <a:ext cx="9396000" cy="79200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20000" y="2357999"/>
            <a:ext cx="9144000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02938"/>
                </a:solidFill>
                <a:latin typeface="微软雅黑"/>
              </a:rPr>
              <a:t>认证(bcrypt/MFA) 工单 材料审阅 算料 识别 串口 MQTT · PM调度(Quartz) EOQ优化 停机OEE 供应商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000" y="3276000"/>
            <a:ext cx="1872000" cy="792000"/>
          </a:xfrm>
          <a:prstGeom prst="roundRect">
            <a:avLst/>
          </a:prstGeom>
          <a:solidFill>
            <a:srgbClr val="187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3999" y="3474000"/>
            <a:ext cx="1728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微软雅黑"/>
              </a:rPr>
              <a:t>DAL 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76000" y="3276000"/>
            <a:ext cx="9396000" cy="79200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20000" y="3401999"/>
            <a:ext cx="9144000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02938"/>
                </a:solidFill>
                <a:latin typeface="微软雅黑"/>
              </a:rPr>
              <a:t>ADO.NET DbHelper：SqlParameter 全参数化 · RunInTransaction · ScriptRunner 版本化迁移(Schema v5)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000" y="4320000"/>
            <a:ext cx="1872000" cy="792000"/>
          </a:xfrm>
          <a:prstGeom prst="roundRect">
            <a:avLst/>
          </a:prstGeom>
          <a:solidFill>
            <a:srgbClr val="187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3999" y="4518000"/>
            <a:ext cx="1728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微软雅黑"/>
              </a:rPr>
              <a:t>Models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76000" y="4320000"/>
            <a:ext cx="9396000" cy="79200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20000" y="4446000"/>
            <a:ext cx="9144000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02938"/>
                </a:solidFill>
                <a:latin typeface="微软雅黑"/>
              </a:rPr>
              <a:t>实体与代码（MaterialReviewMode / InventoryRecommendation / Result 模式）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000" y="5400000"/>
            <a:ext cx="1116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E7A8A"/>
                </a:solidFill>
                <a:latin typeface="微软雅黑"/>
              </a:rPr>
              <a:t>权限双层：界面按钮显隐 + 服务层会话/权限/获派二次校验（越权调用直接拒绝）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204000" cy="756000"/>
          </a:xfrm>
          <a:prstGeom prst="roundRect">
            <a:avLst/>
          </a:prstGeom>
          <a:solidFill>
            <a:srgbClr val="187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16000" y="198000"/>
            <a:ext cx="43200" cy="36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2000" y="125999"/>
            <a:ext cx="864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数据库：21 表 · 14 过程 · 3 触发器 · 8 视图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000" y="558000"/>
            <a:ext cx="1080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5DDFF"/>
                </a:solidFill>
                <a:latin typeface="微软雅黑"/>
              </a:rPr>
              <a:t>版本化迁移（Schema v5）+ 写入约束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1267200"/>
            <a:ext cx="57600" cy="151200"/>
          </a:xfrm>
          <a:prstGeom prst="roundRect">
            <a:avLst/>
          </a:prstGeom>
          <a:solidFill>
            <a:srgbClr val="187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3200" y="1224000"/>
            <a:ext cx="5400000" cy="37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02938"/>
                </a:solidFill>
                <a:latin typeface="微软雅黑"/>
              </a:rPr>
              <a:t>usp_ReviewMaterials：审阅与留痕同事务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645200"/>
            <a:ext cx="57600" cy="151200"/>
          </a:xfrm>
          <a:prstGeom prst="roundRect">
            <a:avLst/>
          </a:prstGeom>
          <a:solidFill>
            <a:srgbClr val="187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3200" y="1602000"/>
            <a:ext cx="5400000" cy="37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02938"/>
                </a:solidFill>
                <a:latin typeface="微软雅黑"/>
              </a:rPr>
              <a:t>usp_GeneratePicking：审阅闸门/快照/★标记/applock 单号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000" y="2023200"/>
            <a:ext cx="57600" cy="151200"/>
          </a:xfrm>
          <a:prstGeom prst="roundRect">
            <a:avLst/>
          </a:prstGeom>
          <a:solidFill>
            <a:srgbClr val="187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3200" y="1980000"/>
            <a:ext cx="5400000" cy="37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02938"/>
                </a:solidFill>
                <a:latin typeface="微软雅黑"/>
              </a:rPr>
              <a:t>usp_IssuePicking：行锁出库，不足回滚报缺口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0" y="2401200"/>
            <a:ext cx="57600" cy="151200"/>
          </a:xfrm>
          <a:prstGeom prst="roundRect">
            <a:avLst/>
          </a:prstGeom>
          <a:solidFill>
            <a:srgbClr val="187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3200" y="2358000"/>
            <a:ext cx="5400000" cy="37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02938"/>
                </a:solidFill>
                <a:latin typeface="微软雅黑"/>
              </a:rPr>
              <a:t>触发器只记真实新增与状态变化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000" y="2779200"/>
            <a:ext cx="57600" cy="151200"/>
          </a:xfrm>
          <a:prstGeom prst="roundRect">
            <a:avLst/>
          </a:prstGeom>
          <a:solidFill>
            <a:srgbClr val="187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3200" y="2736000"/>
            <a:ext cx="5400000" cy="37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02938"/>
                </a:solidFill>
                <a:latin typeface="微软雅黑"/>
              </a:rPr>
              <a:t>CHECK 约束：库存/下限/单价非负、用量为正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000" y="3157200"/>
            <a:ext cx="57600" cy="151200"/>
          </a:xfrm>
          <a:prstGeom prst="roundRect">
            <a:avLst/>
          </a:prstGeom>
          <a:solidFill>
            <a:srgbClr val="187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3200" y="3114000"/>
            <a:ext cx="5400000" cy="37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02938"/>
                </a:solidFill>
                <a:latin typeface="微软雅黑"/>
              </a:rPr>
              <a:t>一工单至多一张未出库单：唯一过滤索引兜底并发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36000" y="1224000"/>
            <a:ext cx="5472000" cy="374400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2000" y="1368000"/>
            <a:ext cx="504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870F0"/>
                </a:solidFill>
                <a:latin typeface="微软雅黑"/>
              </a:rPr>
              <a:t>schema_version 版本化迁移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2000" y="1800000"/>
            <a:ext cx="5040000" cy="28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02938"/>
                </a:solidFill>
                <a:latin typeface="微软雅黑"/>
              </a:rPr>
              <a:t>基线 v1 → 材料审阅 v2 → 性能索引 v3 → 新功能 v4 → PM 关联 v5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202938"/>
                </a:solidFill>
                <a:latin typeface="微软雅黑"/>
              </a:rPr>
              <a:t>任一批次失败整体回滚，版本号不落库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202938"/>
                </a:solidFill>
                <a:latin typeface="微软雅黑"/>
              </a:rPr>
              <a:t>重启自动重试；结构校验通过才提交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202938"/>
                </a:solidFill>
                <a:latin typeface="微软雅黑"/>
              </a:rPr>
              <a:t>存储过程/触发器/视图按脚本 SHA-256 增量刷新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202938"/>
                </a:solidFill>
                <a:latin typeface="微软雅黑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202938"/>
                </a:solidFill>
                <a:latin typeface="微软雅黑"/>
              </a:rPr>
              <a:t>验收：空库初始化 / 旧库增量升级（v4→v5 实测）/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202938"/>
                </a:solidFill>
                <a:latin typeface="微软雅黑"/>
              </a:rPr>
              <a:t>重复启动幂等 / 坏批次整体回滚 全部通过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204000" cy="756000"/>
          </a:xfrm>
          <a:prstGeom prst="roundRect">
            <a:avLst/>
          </a:prstGeom>
          <a:solidFill>
            <a:srgbClr val="187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16000" y="198000"/>
            <a:ext cx="43200" cy="36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2000" y="125999"/>
            <a:ext cx="864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安全实现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2000" y="1296000"/>
            <a:ext cx="2736000" cy="3096000"/>
          </a:xfrm>
          <a:prstGeom prst="roundRect">
            <a:avLst/>
          </a:prstGeom>
          <a:solidFill>
            <a:srgbClr val="F2F6FA"/>
          </a:solidFill>
          <a:ln>
            <a:solidFill>
              <a:srgbClr val="187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00" y="1475999"/>
            <a:ext cx="2448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870F0"/>
                </a:solidFill>
                <a:latin typeface="微软雅黑"/>
              </a:rPr>
              <a:t>口令安全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2088000"/>
            <a:ext cx="2448000" cy="21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202938"/>
                </a:solidFill>
                <a:latin typeface="微软雅黑"/>
              </a:rPr>
              <a:t>bcrypt cost=11 随机盐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202938"/>
                </a:solidFill>
                <a:latin typeface="微软雅黑"/>
              </a:rPr>
              <a:t>失败5次锁10分钟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202938"/>
                </a:solidFill>
                <a:latin typeface="微软雅黑"/>
              </a:rPr>
              <a:t>注册/登录/找回全链路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11999" y="1296000"/>
            <a:ext cx="2736000" cy="3096000"/>
          </a:xfrm>
          <a:prstGeom prst="roundRect">
            <a:avLst/>
          </a:prstGeom>
          <a:solidFill>
            <a:srgbClr val="F2F6FA"/>
          </a:solidFill>
          <a:ln>
            <a:solidFill>
              <a:srgbClr val="187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56000" y="1475999"/>
            <a:ext cx="2448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870F0"/>
                </a:solidFill>
                <a:latin typeface="微软雅黑"/>
              </a:rPr>
              <a:t>登录防护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56000" y="2088000"/>
            <a:ext cx="2448000" cy="21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202938"/>
                </a:solidFill>
                <a:latin typeface="微软雅黑"/>
              </a:rPr>
              <a:t>图形验证码(抗旋转噪线)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202938"/>
                </a:solidFill>
                <a:latin typeface="微软雅黑"/>
              </a:rPr>
              <a:t>MFA 邮箱二次验证(演示通道)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202938"/>
                </a:solidFill>
                <a:latin typeface="微软雅黑"/>
              </a:rPr>
              <a:t>30 分钟滑动会话超时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2000" y="1296000"/>
            <a:ext cx="2736000" cy="3096000"/>
          </a:xfrm>
          <a:prstGeom prst="roundRect">
            <a:avLst/>
          </a:prstGeom>
          <a:solidFill>
            <a:srgbClr val="F2F6FA"/>
          </a:solidFill>
          <a:ln>
            <a:solidFill>
              <a:srgbClr val="187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5999" y="1475999"/>
            <a:ext cx="2448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870F0"/>
                </a:solidFill>
                <a:latin typeface="微软雅黑"/>
              </a:rPr>
              <a:t>注入防护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5999" y="2088000"/>
            <a:ext cx="2448000" cy="21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202938"/>
                </a:solidFill>
                <a:latin typeface="微软雅黑"/>
              </a:rPr>
              <a:t>SqlParameter 全参数化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202938"/>
                </a:solidFill>
                <a:latin typeface="微软雅黑"/>
              </a:rPr>
              <a:t>存储过程内部同样参数化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202938"/>
                </a:solidFill>
                <a:latin typeface="微软雅黑"/>
              </a:rPr>
              <a:t>无字符串拼接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72000" y="1296000"/>
            <a:ext cx="2736000" cy="3096000"/>
          </a:xfrm>
          <a:prstGeom prst="roundRect">
            <a:avLst/>
          </a:prstGeom>
          <a:solidFill>
            <a:srgbClr val="F2F6FA"/>
          </a:solidFill>
          <a:ln>
            <a:solidFill>
              <a:srgbClr val="187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16000" y="1475999"/>
            <a:ext cx="2448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870F0"/>
                </a:solidFill>
                <a:latin typeface="微软雅黑"/>
              </a:rPr>
              <a:t>权限与审计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16000" y="2088000"/>
            <a:ext cx="2448000" cy="21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202938"/>
                </a:solidFill>
                <a:latin typeface="微软雅黑"/>
              </a:rPr>
              <a:t>RBAC 四角色 12 权限点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202938"/>
                </a:solidFill>
                <a:latin typeface="微软雅黑"/>
              </a:rPr>
              <a:t>服务层二次校验+获派限制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202938"/>
                </a:solidFill>
                <a:latin typeface="微软雅黑"/>
              </a:rPr>
              <a:t>登录/操作/审阅全留痕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204000" cy="756000"/>
          </a:xfrm>
          <a:prstGeom prst="roundRect">
            <a:avLst/>
          </a:prstGeom>
          <a:solidFill>
            <a:srgbClr val="187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16000" y="198000"/>
            <a:ext cx="43200" cy="36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2000" y="125999"/>
            <a:ext cx="864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测试与评测：出真数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000" y="558000"/>
            <a:ext cx="1080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5DDFF"/>
                </a:solidFill>
                <a:latin typeface="微软雅黑"/>
              </a:rPr>
              <a:t>独立测试库强制隔离，不污染业务库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1224000"/>
            <a:ext cx="2736000" cy="1296000"/>
          </a:xfrm>
          <a:prstGeom prst="roundRect">
            <a:avLst/>
          </a:prstGeom>
          <a:solidFill>
            <a:srgbClr val="187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332000"/>
            <a:ext cx="252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C5DDFF"/>
                </a:solidFill>
                <a:latin typeface="微软雅黑"/>
              </a:rPr>
              <a:t>单元测试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655999"/>
            <a:ext cx="252000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169/169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1999" y="1224000"/>
            <a:ext cx="2736000" cy="1296000"/>
          </a:xfrm>
          <a:prstGeom prst="roundRect">
            <a:avLst/>
          </a:prstGeom>
          <a:solidFill>
            <a:srgbClr val="187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0000" y="1332000"/>
            <a:ext cx="252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C5DDFF"/>
                </a:solidFill>
                <a:latin typeface="微软雅黑"/>
              </a:rPr>
              <a:t>端到端冒烟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0000" y="1655999"/>
            <a:ext cx="252000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85/85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2000" y="1224000"/>
            <a:ext cx="2736000" cy="1296000"/>
          </a:xfrm>
          <a:prstGeom prst="roundRect">
            <a:avLst/>
          </a:prstGeom>
          <a:solidFill>
            <a:srgbClr val="187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0000" y="1332000"/>
            <a:ext cx="252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C5DDFF"/>
                </a:solidFill>
                <a:latin typeface="微软雅黑"/>
              </a:rPr>
              <a:t>扫码回环评测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1655999"/>
            <a:ext cx="252000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6/6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72000" y="1224000"/>
            <a:ext cx="2736000" cy="1296000"/>
          </a:xfrm>
          <a:prstGeom prst="roundRect">
            <a:avLst/>
          </a:prstGeom>
          <a:solidFill>
            <a:srgbClr val="187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0000" y="1332000"/>
            <a:ext cx="252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C5DDFF"/>
                </a:solidFill>
                <a:latin typeface="微软雅黑"/>
              </a:rPr>
              <a:t>SQL 冒烟/升级演练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0000" y="1655999"/>
            <a:ext cx="252000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SMOKE OK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000" y="2923199"/>
            <a:ext cx="57600" cy="151200"/>
          </a:xfrm>
          <a:prstGeom prst="roundRect">
            <a:avLst/>
          </a:prstGeom>
          <a:solidFill>
            <a:srgbClr val="187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3200" y="2880000"/>
            <a:ext cx="1116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02938"/>
                </a:solidFill>
                <a:latin typeface="微软雅黑"/>
              </a:rPr>
              <a:t>冒烟覆盖：越权拒绝 / 触发器审计 / 审阅九场景 / C#↔存储过程算料对拍 / 并发出库恰好一次 / 快照不变性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000" y="3463199"/>
            <a:ext cx="57600" cy="151200"/>
          </a:xfrm>
          <a:prstGeom prst="roundRect">
            <a:avLst/>
          </a:prstGeom>
          <a:solidFill>
            <a:srgbClr val="187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3200" y="3420000"/>
            <a:ext cx="1116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02938"/>
                </a:solidFill>
                <a:latin typeface="微软雅黑"/>
              </a:rPr>
              <a:t>识别评测工具 RecognizeEval：visual 模式禁照片内条码作答，输出 Top1/Top3/混淆矩阵/run.json（特征库哈希+降级计数）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000" y="4003199"/>
            <a:ext cx="57600" cy="151200"/>
          </a:xfrm>
          <a:prstGeom prst="roundRect">
            <a:avLst/>
          </a:prstGeom>
          <a:solidFill>
            <a:srgbClr val="187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3200" y="3960000"/>
            <a:ext cx="1116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02938"/>
                </a:solidFill>
                <a:latin typeface="微软雅黑"/>
              </a:rPr>
              <a:t>诚实数字：合成图外观 Top1 0/3 —— 特征库匹配的真实水平；真实效果待课程模型+真实图集，不用模拟冒充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204000" cy="756000"/>
          </a:xfrm>
          <a:prstGeom prst="roundRect">
            <a:avLst/>
          </a:prstGeom>
          <a:solidFill>
            <a:srgbClr val="187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16000" y="198000"/>
            <a:ext cx="43200" cy="36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2000" y="125999"/>
            <a:ext cx="864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开源集成与合规（17 个直接依赖）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2000" y="1224000"/>
            <a:ext cx="5472000" cy="75600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00" y="1324800"/>
            <a:ext cx="234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202938"/>
                </a:solidFill>
                <a:latin typeface="微软雅黑"/>
              </a:rPr>
              <a:t>SunnyUI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51999" y="1346400"/>
            <a:ext cx="1655999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E7A8A"/>
                </a:solidFill>
                <a:latin typeface="微软雅黑"/>
              </a:rPr>
              <a:t>界面/图表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3999" y="1324800"/>
            <a:ext cx="1368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870F0"/>
                </a:solidFill>
                <a:latin typeface="微软雅黑"/>
              </a:rPr>
              <a:t>GPL-3.0-only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56000" y="1224000"/>
            <a:ext cx="5472000" cy="75600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0" y="1324800"/>
            <a:ext cx="234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202938"/>
                </a:solidFill>
                <a:latin typeface="微软雅黑"/>
              </a:rPr>
              <a:t>OpenCvSharp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76000" y="1346400"/>
            <a:ext cx="1655999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E7A8A"/>
                </a:solidFill>
                <a:latin typeface="微软雅黑"/>
              </a:rPr>
              <a:t>视觉特征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88000" y="1324800"/>
            <a:ext cx="1368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E7A8A"/>
                </a:solidFill>
                <a:latin typeface="微软雅黑"/>
              </a:rPr>
              <a:t>Apache-2.0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" y="2124000"/>
            <a:ext cx="5472000" cy="75600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00" y="2224800"/>
            <a:ext cx="234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202938"/>
                </a:solidFill>
                <a:latin typeface="微软雅黑"/>
              </a:rPr>
              <a:t>Microsoft.ML.OnnxRuntime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1999" y="2246400"/>
            <a:ext cx="1655999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E7A8A"/>
                </a:solidFill>
                <a:latin typeface="微软雅黑"/>
              </a:rPr>
              <a:t>课程模型后端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3999" y="2224800"/>
            <a:ext cx="1368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E7A8A"/>
                </a:solidFill>
                <a:latin typeface="微软雅黑"/>
              </a:rPr>
              <a:t>MIT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56000" y="2124000"/>
            <a:ext cx="5472000" cy="75600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000" y="2224800"/>
            <a:ext cx="234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202938"/>
                </a:solidFill>
                <a:latin typeface="微软雅黑"/>
              </a:rPr>
              <a:t>ZXing.Net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76000" y="2246400"/>
            <a:ext cx="1655999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E7A8A"/>
                </a:solidFill>
                <a:latin typeface="微软雅黑"/>
              </a:rPr>
              <a:t>条码解码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88000" y="2224800"/>
            <a:ext cx="1368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E7A8A"/>
                </a:solidFill>
                <a:latin typeface="微软雅黑"/>
              </a:rPr>
              <a:t>Apache-2.0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000" y="3024000"/>
            <a:ext cx="5472000" cy="75600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00" y="3124800"/>
            <a:ext cx="234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202938"/>
                </a:solidFill>
                <a:latin typeface="微软雅黑"/>
              </a:rPr>
              <a:t>ClosedXML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51999" y="3146400"/>
            <a:ext cx="1655999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E7A8A"/>
                </a:solidFill>
                <a:latin typeface="微软雅黑"/>
              </a:rPr>
              <a:t>Excel 报表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3999" y="3124800"/>
            <a:ext cx="1368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E7A8A"/>
                </a:solidFill>
                <a:latin typeface="微软雅黑"/>
              </a:rPr>
              <a:t>MIT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56000" y="3024000"/>
            <a:ext cx="5472000" cy="75600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0000" y="3124800"/>
            <a:ext cx="234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202938"/>
                </a:solidFill>
                <a:latin typeface="微软雅黑"/>
              </a:rPr>
              <a:t>MQTTnet 4.3.7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76000" y="3146400"/>
            <a:ext cx="1655999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E7A8A"/>
                </a:solidFill>
                <a:latin typeface="微软雅黑"/>
              </a:rPr>
              <a:t>内嵌 Broker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88000" y="3124800"/>
            <a:ext cx="1368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E7A8A"/>
                </a:solidFill>
                <a:latin typeface="微软雅黑"/>
              </a:rPr>
              <a:t>MIT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2000" y="3924000"/>
            <a:ext cx="5472000" cy="75600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00" y="4024800"/>
            <a:ext cx="234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202938"/>
                </a:solidFill>
                <a:latin typeface="微软雅黑"/>
              </a:rPr>
              <a:t>Quartz.NET 3.13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51999" y="4046400"/>
            <a:ext cx="1655999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E7A8A"/>
                </a:solidFill>
                <a:latin typeface="微软雅黑"/>
              </a:rPr>
              <a:t>定时任务/PM调度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63999" y="4024800"/>
            <a:ext cx="1368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E7A8A"/>
                </a:solidFill>
                <a:latin typeface="微软雅黑"/>
              </a:rPr>
              <a:t>Apache-2.0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56000" y="3924000"/>
            <a:ext cx="5472000" cy="75600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0000" y="4024800"/>
            <a:ext cx="234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202938"/>
                </a:solidFill>
                <a:latin typeface="微软雅黑"/>
              </a:rPr>
              <a:t>ScottPlot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76000" y="4046400"/>
            <a:ext cx="1655999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E7A8A"/>
                </a:solidFill>
                <a:latin typeface="微软雅黑"/>
              </a:rPr>
              <a:t>EOQ 交互图表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88000" y="4024800"/>
            <a:ext cx="1368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E7A8A"/>
                </a:solidFill>
                <a:latin typeface="微软雅黑"/>
              </a:rPr>
              <a:t>MIT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2000" y="5004000"/>
            <a:ext cx="1116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E7A8A"/>
                </a:solidFill>
                <a:latin typeface="微软雅黑"/>
              </a:rPr>
              <a:t>另含 MailKit/QuestPDF/CsvHelper/Serilog/Polly/FluentValidation/FuzzySharp/Bogus/QRCoder/BCrypt.Net-Next；许可以官方 NuGet 元数据为准，SunnyUI 为 GPL-3.0-only（课设可用，商用需注意传染性）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204000" cy="756000"/>
          </a:xfrm>
          <a:prstGeom prst="roundRect">
            <a:avLst/>
          </a:prstGeom>
          <a:solidFill>
            <a:srgbClr val="187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16000" y="198000"/>
            <a:ext cx="43200" cy="36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2000" y="125999"/>
            <a:ext cx="864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维护智能化与集成亮点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2000" y="1339200"/>
            <a:ext cx="57600" cy="151200"/>
          </a:xfrm>
          <a:prstGeom prst="roundRect">
            <a:avLst/>
          </a:prstGeom>
          <a:solidFill>
            <a:srgbClr val="187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3200" y="1296000"/>
            <a:ext cx="11160000" cy="68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202938"/>
                </a:solidFill>
                <a:latin typeface="微软雅黑"/>
              </a:rPr>
              <a:t>预防性维护 PM：Time/Meter 双模式调度，Quartz 每 30 分钟检查到期自动建工单，工单↔调度硬外键关联（Schema v5）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00" y="2023200"/>
            <a:ext cx="57600" cy="151200"/>
          </a:xfrm>
          <a:prstGeom prst="roundRect">
            <a:avLst/>
          </a:prstGeom>
          <a:solidFill>
            <a:srgbClr val="187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3200" y="1980000"/>
            <a:ext cx="11160000" cy="68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202938"/>
                </a:solidFill>
                <a:latin typeface="微软雅黑"/>
              </a:rPr>
              <a:t>EOQ 库存优化：经济批量/再订购点/安全库存，首选供应商实际交期参与计算（无关联回退 14 天），ScottPlot 图表导出 PNG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2707200"/>
            <a:ext cx="57600" cy="151200"/>
          </a:xfrm>
          <a:prstGeom prst="roundRect">
            <a:avLst/>
          </a:prstGeom>
          <a:solidFill>
            <a:srgbClr val="187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3200" y="2664000"/>
            <a:ext cx="11160000" cy="68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202938"/>
                </a:solidFill>
                <a:latin typeface="微软雅黑"/>
              </a:rPr>
              <a:t>停机追踪 OEE：固定七类停机原因下拉，30 天可用率（Availability）计算与 Excel 导出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000" y="3391199"/>
            <a:ext cx="57600" cy="151200"/>
          </a:xfrm>
          <a:prstGeom prst="roundRect">
            <a:avLst/>
          </a:prstGeom>
          <a:solidFill>
            <a:srgbClr val="187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3200" y="3347999"/>
            <a:ext cx="11160000" cy="68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202938"/>
                </a:solidFill>
                <a:latin typeface="微软雅黑"/>
              </a:rPr>
              <a:t>MQTT 遥测：内嵌 Broker(127.0.0.1:18835)，温度/振动越限自动建 [IoT自动报修] 工单（10 分钟冷却，冒烟确定性断言）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" y="4075199"/>
            <a:ext cx="57600" cy="151200"/>
          </a:xfrm>
          <a:prstGeom prst="roundRect">
            <a:avLst/>
          </a:prstGeom>
          <a:solidFill>
            <a:srgbClr val="187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3200" y="4031999"/>
            <a:ext cx="11160000" cy="68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202938"/>
                </a:solidFill>
                <a:latin typeface="微软雅黑"/>
              </a:rPr>
              <a:t>二维码闭环：QRCoder 生成 PART:编码 标签 → ZXing 解码直达配件（回环 6/6）；CSV/Excel 导出对接外部大屏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204000" cy="756000"/>
          </a:xfrm>
          <a:prstGeom prst="roundRect">
            <a:avLst/>
          </a:prstGeom>
          <a:solidFill>
            <a:srgbClr val="187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16000" y="198000"/>
            <a:ext cx="43200" cy="36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2000" y="125999"/>
            <a:ext cx="864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如实边界与展望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2000" y="1224000"/>
            <a:ext cx="5472000" cy="345600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8000" y="1368000"/>
            <a:ext cx="504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870F0"/>
                </a:solidFill>
                <a:latin typeface="微软雅黑"/>
              </a:rPr>
              <a:t>当前如实标注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1835999"/>
            <a:ext cx="5040000" cy="2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0">
                <a:solidFill>
                  <a:srgbClr val="202938"/>
                </a:solidFill>
                <a:latin typeface="微软雅黑"/>
              </a:rPr>
              <a:t>识别分数=匹配分，非概率（合成图 Top1 0/3 已入档）</a:t>
            </a:r>
          </a:p>
          <a:p>
            <a:pPr algn="l">
              <a:lnSpc>
                <a:spcPct val="160000"/>
              </a:lnSpc>
            </a:pPr>
            <a:r>
              <a:rPr sz="1300" b="0">
                <a:solidFill>
                  <a:srgbClr val="202938"/>
                </a:solidFill>
                <a:latin typeface="微软雅黑"/>
              </a:rPr>
              <a:t>MFA 邮箱为演示通道（验证码界面直显）</a:t>
            </a:r>
          </a:p>
          <a:p>
            <a:pPr algn="l">
              <a:lnSpc>
                <a:spcPct val="160000"/>
              </a:lnSpc>
            </a:pPr>
            <a:r>
              <a:rPr sz="1300" b="0">
                <a:solidFill>
                  <a:srgbClr val="202938"/>
                </a:solidFill>
                <a:latin typeface="微软雅黑"/>
              </a:rPr>
              <a:t>真实扫码枪 / 山海鲸 / 课程模型：待实物验证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6000" y="1224000"/>
            <a:ext cx="5472000" cy="345600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52000" y="1368000"/>
            <a:ext cx="504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870F0"/>
                </a:solidFill>
                <a:latin typeface="微软雅黑"/>
              </a:rPr>
              <a:t>展望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2000" y="1835999"/>
            <a:ext cx="5040000" cy="2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0">
                <a:solidFill>
                  <a:srgbClr val="202938"/>
                </a:solidFill>
                <a:latin typeface="微软雅黑"/>
              </a:rPr>
              <a:t>课程模型经 IImageRecognizer 同接口接入，</a:t>
            </a:r>
          </a:p>
          <a:p>
            <a:pPr algn="l">
              <a:lnSpc>
                <a:spcPct val="160000"/>
              </a:lnSpc>
            </a:pPr>
            <a:r>
              <a:rPr sz="1300" b="0">
                <a:solidFill>
                  <a:srgbClr val="202938"/>
                </a:solidFill>
                <a:latin typeface="微软雅黑"/>
              </a:rPr>
              <a:t>以独立真实图集评测（开发集定阈值、验证集出指标）</a:t>
            </a:r>
          </a:p>
          <a:p>
            <a:pPr algn="l">
              <a:lnSpc>
                <a:spcPct val="160000"/>
              </a:lnSpc>
            </a:pPr>
            <a:r>
              <a:rPr sz="1300" b="0">
                <a:solidFill>
                  <a:srgbClr val="202938"/>
                </a:solidFill>
                <a:latin typeface="微软雅黑"/>
              </a:rPr>
              <a:t>移动端(MAUI)与消息推送</a:t>
            </a:r>
          </a:p>
          <a:p>
            <a:pPr algn="l">
              <a:lnSpc>
                <a:spcPct val="160000"/>
              </a:lnSpc>
            </a:pPr>
            <a:r>
              <a:rPr sz="1300" b="0">
                <a:solidFill>
                  <a:srgbClr val="202938"/>
                </a:solidFill>
                <a:latin typeface="微软雅黑"/>
              </a:rPr>
              <a:t>厂区 Broker 对接（改连接即可）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9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2592000"/>
            <a:ext cx="1044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微软雅黑"/>
              </a:rPr>
              <a:t>谢谢，请老师提问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000" y="3671999"/>
            <a:ext cx="104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9EC5FF"/>
                </a:solidFill>
                <a:latin typeface="微软雅黑"/>
              </a:rPr>
              <a:t>演示账号：admin / warehouse / engineer / reporter（密码 123456）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